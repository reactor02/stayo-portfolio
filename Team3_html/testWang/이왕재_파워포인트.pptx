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8" r:id="rId11"/>
    <p:sldMasterId id="2147483670" r:id="rId12"/>
  </p:sldMasterIdLst>
  <p:sldIdLst>
    <p:sldId id="256" r:id="rId13"/>
    <p:sldId id="257" r:id="rId14"/>
    <p:sldId id="258" r:id="rId15"/>
    <p:sldId id="259" r:id="rId16"/>
    <p:sldId id="260" r:id="rId17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602D2E-E8DE-4E50-A324-548A3DC613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7C7A48-226D-46E5-9F38-18DE91AB58C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5A50547-77DC-4583-8347-64E4E4BB72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CDE144C-3EDB-4B15-90DC-65C0A0170D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DCAD864-F783-4A59-8981-DB54D1D238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608EDB7-CA93-4CE8-AC1F-E0FB4D41FB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A0DE4AFF-D305-4B9A-9075-71E043FFA5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3D0407CD-72AB-4D8F-AE96-C890843CA1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EF4BC23-EA95-4834-9CA6-DD448800A9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DBF8E46-0F98-4C12-A2D3-91DF959FF3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6F5C37B9-858A-456F-8607-0E07AF63F4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75ABEBF-5082-46FA-A9EB-A3E64405E83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29A9C1A-DBEA-4F51-8375-130B1CC09F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ko-K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2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497483-11EC-4CB1-9711-89BD610C49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BE2FD4-E472-4023-93CD-F1EA1A8AF4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B9193E-815B-48BE-8FAA-77FC846C18D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B65E89-428C-4793-9EEB-2C2ADF604E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40AC1D-0494-4638-8A77-2A818DF695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2B0773-6F67-48BA-8931-E9E3E77D21E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CBC512-737D-41CE-B78F-3DF135CBAFF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79C6C-9EA9-406A-8A17-A2CB379FD2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4C4B2E-E46B-4874-9BE2-1CE4520A8D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1800" spc="-1" strike="noStrike">
                <a:solidFill>
                  <a:schemeClr val="dk1"/>
                </a:solidFill>
                <a:latin typeface="Calibri"/>
              </a:rPr>
              <a:t>제목 텍스트의 서식을 편집하려면 클릭하십시오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20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78DAA8-D9A6-4007-8163-B5EA28C192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개요 텍스트의 서식을 편집하려면 클릭하십시오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번째 개요 수준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&lt;날짜/시간&gt;</a:t>
            </a:r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바탕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바탕"/>
              </a:rPr>
              <a:t>&lt;바닥글&gt;</a:t>
            </a:r>
            <a:endParaRPr b="0" lang="en-US" sz="1400" spc="-1" strike="noStrike">
              <a:solidFill>
                <a:srgbClr val="000000"/>
              </a:solidFill>
              <a:latin typeface="바탕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FD79C9-D63C-448B-B623-20E22F41B56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&lt;숫자&gt;</a:t>
            </a:fld>
            <a:endParaRPr b="0" lang="en-US" sz="1200" spc="-1" strike="noStrike">
              <a:solidFill>
                <a:srgbClr val="000000"/>
              </a:solidFill>
              <a:latin typeface="바탕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0" y="1080000"/>
            <a:ext cx="11520000" cy="920700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312120" y="78120"/>
            <a:ext cx="5760000" cy="82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메인페이지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12240000" y="1260000"/>
            <a:ext cx="468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1.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캐러셀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2240000" y="2296440"/>
            <a:ext cx="342000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클릭 시 팝업 창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2240000" y="3240000"/>
            <a:ext cx="3600000" cy="126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3.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멀티턴 </a:t>
            </a: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ai 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상담사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9720000" y="774000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5400000" y="200304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2880000" y="434304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360000" y="612000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2240000" y="4276440"/>
            <a:ext cx="540000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4.API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를 이용한 </a:t>
            </a: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JSON 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호출</a:t>
            </a: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(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이용상 팀원 코드</a:t>
            </a:r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) 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81" name="Picture 2" descr=""/>
          <p:cNvPicPr/>
          <p:nvPr/>
        </p:nvPicPr>
        <p:blipFill>
          <a:blip r:embed="rId2"/>
          <a:stretch/>
        </p:blipFill>
        <p:spPr>
          <a:xfrm rot="16200000">
            <a:off x="-182160" y="717480"/>
            <a:ext cx="1037160" cy="47880"/>
          </a:xfrm>
          <a:prstGeom prst="rect">
            <a:avLst/>
          </a:prstGeom>
          <a:ln w="0">
            <a:noFill/>
          </a:ln>
        </p:spPr>
      </p:pic>
      <p:sp>
        <p:nvSpPr>
          <p:cNvPr id="82" name=""/>
          <p:cNvSpPr txBox="1"/>
          <p:nvPr/>
        </p:nvSpPr>
        <p:spPr>
          <a:xfrm>
            <a:off x="11700000" y="180000"/>
            <a:ext cx="540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구현 기능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89280" y="1260000"/>
            <a:ext cx="9270720" cy="9080640"/>
          </a:xfrm>
          <a:prstGeom prst="rect">
            <a:avLst/>
          </a:prstGeom>
          <a:ln w="0">
            <a:noFill/>
          </a:ln>
        </p:spPr>
      </p:pic>
      <p:sp>
        <p:nvSpPr>
          <p:cNvPr id="84" name=""/>
          <p:cNvSpPr txBox="1"/>
          <p:nvPr/>
        </p:nvSpPr>
        <p:spPr>
          <a:xfrm>
            <a:off x="370440" y="180000"/>
            <a:ext cx="3326400" cy="82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결제 페이지 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10800000" y="2160000"/>
            <a:ext cx="2700000" cy="943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2.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모달 버튼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0800000" y="2880000"/>
            <a:ext cx="61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3.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약관동의 체크박스 체인지 이벤트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0800000" y="1440000"/>
            <a:ext cx="522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1.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예약자 정보 형식 검사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10800000" y="3600000"/>
            <a:ext cx="5220000" cy="7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4.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결제버튼 클릭이벤트 처리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80000" y="864000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3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680000" y="362304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4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320000" y="5580000"/>
            <a:ext cx="360000" cy="54000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2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80000" y="326304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1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0800000" y="4320000"/>
            <a:ext cx="4500000" cy="5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800" spc="-1" strike="noStrike">
                <a:solidFill>
                  <a:srgbClr val="000000"/>
                </a:solidFill>
                <a:latin typeface="Noto Sans KR"/>
              </a:rPr>
              <a:t>5.</a:t>
            </a:r>
            <a:r>
              <a:rPr b="0" lang="ko-KR" sz="2800" spc="-1" strike="noStrike">
                <a:solidFill>
                  <a:srgbClr val="000000"/>
                </a:solidFill>
                <a:latin typeface="Noto Sans KR"/>
              </a:rPr>
              <a:t>결제액 계산 로직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500000" y="2160000"/>
            <a:ext cx="360000" cy="516960"/>
          </a:xfrm>
          <a:prstGeom prst="rect">
            <a:avLst/>
          </a:prstGeom>
          <a:solidFill>
            <a:srgbClr val="ffde59"/>
          </a:solidFill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US" sz="2800" spc="-1" strike="noStrike">
                <a:solidFill>
                  <a:srgbClr val="c9211e"/>
                </a:solidFill>
                <a:latin typeface="Noto Sans KR"/>
              </a:rPr>
              <a:t>5</a:t>
            </a:r>
            <a:endParaRPr b="0" lang="en-US" sz="28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95" name="Picture 3" descr=""/>
          <p:cNvPicPr/>
          <p:nvPr/>
        </p:nvPicPr>
        <p:blipFill>
          <a:blip r:embed="rId2"/>
          <a:stretch/>
        </p:blipFill>
        <p:spPr>
          <a:xfrm rot="16200000">
            <a:off x="-123840" y="717480"/>
            <a:ext cx="1037160" cy="47880"/>
          </a:xfrm>
          <a:prstGeom prst="rect">
            <a:avLst/>
          </a:prstGeom>
          <a:ln w="0">
            <a:noFill/>
          </a:ln>
        </p:spPr>
      </p:pic>
      <p:sp>
        <p:nvSpPr>
          <p:cNvPr id="96" name=""/>
          <p:cNvSpPr txBox="1"/>
          <p:nvPr/>
        </p:nvSpPr>
        <p:spPr>
          <a:xfrm>
            <a:off x="11520000" y="438120"/>
            <a:ext cx="4680000" cy="821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구현기능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5400" spc="-1" strike="noStrike">
                <a:solidFill>
                  <a:schemeClr val="dk1"/>
                </a:solidFill>
                <a:latin typeface="Calibri"/>
              </a:rPr>
              <a:t>코딩 </a:t>
            </a:r>
            <a:r>
              <a:rPr b="0" lang="en-US" sz="5400" spc="-1" strike="noStrike">
                <a:solidFill>
                  <a:schemeClr val="dk1"/>
                </a:solidFill>
                <a:latin typeface="Calibri"/>
              </a:rPr>
              <a:t>SAMPLE IMAGE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080000" y="3240000"/>
            <a:ext cx="7740000" cy="666000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10080000" y="3166920"/>
            <a:ext cx="6737040" cy="673308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 txBox="1"/>
          <p:nvPr/>
        </p:nvSpPr>
        <p:spPr>
          <a:xfrm>
            <a:off x="2880000" y="2127960"/>
            <a:ext cx="3060000" cy="93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ko-KR" sz="4200" spc="-1" strike="noStrike">
                <a:solidFill>
                  <a:srgbClr val="000000"/>
                </a:solidFill>
                <a:latin typeface="Noto Sans KR"/>
              </a:rPr>
              <a:t>캐러셀</a:t>
            </a:r>
            <a:r>
              <a:rPr b="0" lang="en-US" sz="4200" spc="-1" strike="noStrike">
                <a:solidFill>
                  <a:srgbClr val="000000"/>
                </a:solidFill>
                <a:latin typeface="Noto Sans KR"/>
              </a:rPr>
              <a:t>.JS </a:t>
            </a:r>
            <a:endParaRPr b="0" lang="en-US" sz="42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0980000" y="2340000"/>
            <a:ext cx="4860000" cy="82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ko-KR" sz="4200" spc="-1" strike="noStrike">
                <a:solidFill>
                  <a:srgbClr val="000000"/>
                </a:solidFill>
                <a:latin typeface="Noto Sans KR"/>
              </a:rPr>
              <a:t>쿠폰생성</a:t>
            </a:r>
            <a:r>
              <a:rPr b="0" lang="en-US" sz="4200" spc="-1" strike="noStrike">
                <a:solidFill>
                  <a:srgbClr val="000000"/>
                </a:solidFill>
                <a:latin typeface="Noto Sans KR"/>
              </a:rPr>
              <a:t>.JS</a:t>
            </a:r>
            <a:endParaRPr b="0" lang="en-US" sz="4200" spc="-1" strike="noStrike">
              <a:solidFill>
                <a:srgbClr val="000000"/>
              </a:solidFill>
              <a:latin typeface="Noto Sans KR"/>
            </a:endParaRPr>
          </a:p>
        </p:txBody>
      </p:sp>
      <p:pic>
        <p:nvPicPr>
          <p:cNvPr id="102" name="Picture 1" descr=""/>
          <p:cNvPicPr/>
          <p:nvPr/>
        </p:nvPicPr>
        <p:blipFill>
          <a:blip r:embed="rId3"/>
          <a:stretch/>
        </p:blipFill>
        <p:spPr>
          <a:xfrm rot="16200000">
            <a:off x="420120" y="1437840"/>
            <a:ext cx="1037160" cy="4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6937560" cy="1028700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11163240" y="0"/>
            <a:ext cx="5108760" cy="10287000"/>
          </a:xfrm>
          <a:prstGeom prst="rect">
            <a:avLst/>
          </a:prstGeom>
          <a:ln w="0">
            <a:noFill/>
          </a:ln>
        </p:spPr>
      </p:pic>
      <p:sp>
        <p:nvSpPr>
          <p:cNvPr id="105" name=""/>
          <p:cNvSpPr txBox="1"/>
          <p:nvPr/>
        </p:nvSpPr>
        <p:spPr>
          <a:xfrm>
            <a:off x="7200000" y="3780000"/>
            <a:ext cx="360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결제 페이지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7200000" y="3780000"/>
            <a:ext cx="3600000" cy="162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결제 페이지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16272000" y="3846600"/>
            <a:ext cx="2628000" cy="1553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ko-KR" sz="4800" spc="-1" strike="noStrike">
                <a:solidFill>
                  <a:srgbClr val="000000"/>
                </a:solidFill>
                <a:latin typeface="Noto Sans KR"/>
              </a:rPr>
              <a:t>메인 페이지</a:t>
            </a:r>
            <a:endParaRPr b="0" lang="en-US" sz="4800" spc="-1" strike="noStrike">
              <a:solidFill>
                <a:srgbClr val="000000"/>
              </a:solidFill>
              <a:latin typeface="Noto Sans K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ko-KR" sz="4800" spc="-1" strike="noStrike">
                <a:solidFill>
                  <a:schemeClr val="dk1"/>
                </a:solidFill>
                <a:latin typeface="Calibri"/>
              </a:rPr>
              <a:t>팀프로젝트 후기</a:t>
            </a: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(</a:t>
            </a:r>
            <a:r>
              <a:rPr b="0" lang="ko-KR" sz="4800" spc="-1" strike="noStrike">
                <a:solidFill>
                  <a:schemeClr val="dk1"/>
                </a:solidFill>
                <a:latin typeface="Calibri"/>
              </a:rPr>
              <a:t>이왕재</a:t>
            </a:r>
            <a:r>
              <a:rPr b="0" lang="en-US" sz="4800" spc="-1" strike="noStrike">
                <a:solidFill>
                  <a:schemeClr val="dk1"/>
                </a:solidFill>
                <a:latin typeface="Calibri"/>
              </a:rPr>
              <a:t>)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팀프로젝트를 통한 기억의 복원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과거에 팀프로젝트의 완성도를 높이기 위해 사용했던 방법에 관한 기억의 복원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앤드류 응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(Andrew Ng) 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교수님의 프로그래머의 역할변화 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LLM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과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AI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로 인한 프로그래머의 코더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(coder)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에서 아키텍트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(architect)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로의 패러다임 변화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제갈공명의 공부법 관기대략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숙독과 정독이 아닌 핵심과 맥락 중심의 공부법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기술의 가치하락과 저숙련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, 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저학력 프로그래머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AI</a:t>
            </a:r>
            <a:r>
              <a:rPr b="0" lang="ko-KR" sz="3200" spc="-1" strike="noStrike">
                <a:solidFill>
                  <a:schemeClr val="dk1"/>
                </a:solidFill>
                <a:latin typeface="Calibri"/>
              </a:rPr>
              <a:t>대체 가능성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과거 우수한 팀원과 부족한 팀원의 협업에서 생성형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AI</a:t>
            </a:r>
            <a:r>
              <a:rPr b="0" lang="ko-KR" sz="2400" spc="-1" strike="noStrike">
                <a:solidFill>
                  <a:schemeClr val="dk1"/>
                </a:solidFill>
                <a:latin typeface="Calibri"/>
              </a:rPr>
              <a:t>와의 협업   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0" name="Picture 6" descr=""/>
          <p:cNvPicPr/>
          <p:nvPr/>
        </p:nvPicPr>
        <p:blipFill>
          <a:blip r:embed="rId1"/>
          <a:stretch/>
        </p:blipFill>
        <p:spPr>
          <a:xfrm rot="16200000">
            <a:off x="419760" y="1437480"/>
            <a:ext cx="1037160" cy="4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ko-KR</dc:language>
  <cp:lastModifiedBy/>
  <dcterms:modified xsi:type="dcterms:W3CDTF">2026-03-11T16:29:56Z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